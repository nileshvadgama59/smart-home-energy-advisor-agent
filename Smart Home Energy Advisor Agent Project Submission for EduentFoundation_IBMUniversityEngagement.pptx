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8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Vadgama.vgi@gmail.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NileshVadgama59/Smart-Home-Energy-Advisor-Agent"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848765424"/>
              </p:ext>
            </p:extLst>
          </p:nvPr>
        </p:nvGraphicFramePr>
        <p:xfrm>
          <a:off x="1299257" y="2600314"/>
          <a:ext cx="9395000" cy="3382170"/>
        </p:xfrm>
        <a:graphic>
          <a:graphicData uri="http://schemas.openxmlformats.org/drawingml/2006/table">
            <a:tbl>
              <a:tblPr>
                <a:noFill/>
                <a:tableStyleId>{72DA409A-753F-43E9-88D9-1875949E996A}</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1037189">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344981">
                <a:tc>
                  <a:txBody>
                    <a:bodyPr/>
                    <a:lstStyle/>
                    <a:p>
                      <a:pPr marL="0" marR="0" lvl="0" indent="0" algn="ctr" rtl="0">
                        <a:lnSpc>
                          <a:spcPct val="100000"/>
                        </a:lnSpc>
                        <a:spcBef>
                          <a:spcPts val="0"/>
                        </a:spcBef>
                        <a:spcAft>
                          <a:spcPts val="0"/>
                        </a:spcAft>
                        <a:buClr>
                          <a:srgbClr val="000000"/>
                        </a:buClr>
                        <a:buSzPts val="1400"/>
                        <a:buFont typeface="Arial"/>
                        <a:buNone/>
                      </a:pPr>
                      <a:r>
                        <a:rPr lang="en-US" sz="2000" u="none" strike="noStrike" cap="none" dirty="0"/>
                        <a:t>Nilesh Vadgama</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hlinkClick r:id="rId3"/>
                        </a:rPr>
                        <a:t>Vadgama.vgi@gmail.com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t>9XXX0 8XXX3</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Electrical Engineering</a:t>
            </a:r>
            <a:endParaRPr sz="2400" b="1" i="0" u="none" strike="noStrike" cap="none" dirty="0">
              <a:solidFill>
                <a:srgbClr val="000000"/>
              </a:solidFill>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Smart Home Energy Advisor Agent</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7ED51DAD-02B2-75F7-AD65-C55DD18F1B5A}"/>
              </a:ext>
            </a:extLst>
          </p:cNvPr>
          <p:cNvPicPr>
            <a:picLocks noChangeAspect="1"/>
          </p:cNvPicPr>
          <p:nvPr/>
        </p:nvPicPr>
        <p:blipFill>
          <a:blip r:embed="rId4"/>
          <a:stretch>
            <a:fillRect/>
          </a:stretch>
        </p:blipFill>
        <p:spPr>
          <a:xfrm>
            <a:off x="3768551" y="3835490"/>
            <a:ext cx="1600200" cy="2000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234440"/>
            <a:ext cx="10607040" cy="52629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Problem Statement : Smart Home Energy Advisor Agent</a:t>
            </a:r>
            <a:endParaRPr sz="1600" dirty="0"/>
          </a:p>
          <a:p>
            <a:pPr marL="0" marR="0" lvl="0" indent="0" algn="l" rtl="0">
              <a:lnSpc>
                <a:spcPct val="100000"/>
              </a:lnSpc>
              <a:spcBef>
                <a:spcPts val="0"/>
              </a:spcBef>
              <a:spcAft>
                <a:spcPts val="0"/>
              </a:spcAft>
              <a:buNone/>
            </a:pPr>
            <a:endParaRPr lang="en-IN" sz="1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600" b="1" i="0" u="none" strike="noStrike" cap="none" dirty="0">
                <a:solidFill>
                  <a:srgbClr val="000000"/>
                </a:solidFill>
                <a:latin typeface="Arial"/>
                <a:ea typeface="Arial"/>
                <a:cs typeface="Arial"/>
                <a:sym typeface="Arial"/>
              </a:rPr>
              <a:t>The Challenge</a:t>
            </a:r>
            <a:r>
              <a:rPr lang="en-IN" sz="1600" b="0" i="0" u="none" strike="noStrike" cap="none" dirty="0">
                <a:solidFill>
                  <a:srgbClr val="000000"/>
                </a:solidFill>
                <a:latin typeface="Arial"/>
                <a:ea typeface="Arial"/>
                <a:cs typeface="Arial"/>
                <a:sym typeface="Arial"/>
              </a:rPr>
              <a:t> </a:t>
            </a:r>
            <a:endParaRPr lang="en-IN" sz="16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Rising electricity demand and energy costs make it difficult for households to understand how their daily habits impact power consumption. Most users only receive monthly bills, which provide limited insight into appliance-level energy usage. As a result, people often waste electricity unknowingly, highlighting the need for an AI-powered system that analyzes usage patterns and provides actionable energy-saving recommendations. </a:t>
            </a:r>
            <a:endParaRPr sz="1600" dirty="0"/>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The Objective</a:t>
            </a:r>
            <a:r>
              <a:rPr lang="en-US" sz="1600" b="0" i="0" u="none" strike="noStrike" cap="none" dirty="0">
                <a:solidFill>
                  <a:srgbClr val="000000"/>
                </a:solidFill>
                <a:latin typeface="Arial"/>
                <a:ea typeface="Arial"/>
                <a:cs typeface="Arial"/>
                <a:sym typeface="Arial"/>
              </a:rPr>
              <a:t> </a:t>
            </a:r>
            <a:endParaRPr sz="1600"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Build an AI-powered Smart Home Energy Advisor Agent that analyzes household electricity consumption data and provides intelligent recommendations to optimize energy usage.</a:t>
            </a:r>
          </a:p>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1. Energy Consumption Analysis – Analyze household electricity usage patterns from smart meters or appliance usage logs.</a:t>
            </a:r>
          </a:p>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2. Personalized Energy Recommendations – Suggest energy-saving actions based on the user's consumption behavior and daily routines.</a:t>
            </a:r>
          </a:p>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3. Appliance Usage Insights – Identify appliances that consume the most electricity and recommend optimal usage strategies.</a:t>
            </a:r>
          </a:p>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4. Electricity Bill Estimation – Predict monthly electricity bills based on current usage patterns and tariff structures.</a:t>
            </a:r>
          </a:p>
          <a:p>
            <a:pPr marL="0" marR="0" lvl="0" indent="0" algn="l" rtl="0">
              <a:lnSpc>
                <a:spcPct val="100000"/>
              </a:lnSpc>
              <a:spcBef>
                <a:spcPts val="0"/>
              </a:spcBef>
              <a:spcAft>
                <a:spcPts val="0"/>
              </a:spcAft>
              <a:buNone/>
            </a:pPr>
            <a:r>
              <a:rPr lang="en-US" sz="1600" b="0" i="0" u="none" strike="noStrike" cap="none" dirty="0">
                <a:solidFill>
                  <a:srgbClr val="000000"/>
                </a:solidFill>
                <a:latin typeface="Arial"/>
                <a:ea typeface="Arial"/>
                <a:cs typeface="Arial"/>
                <a:sym typeface="Arial"/>
              </a:rPr>
              <a:t>5. Energy Efficiency Suggestions – Recommend simple practices such as reducing peak-hour usage, scheduling heavy appliances, or upgrading to energy-efficient devices.</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249380" y="887015"/>
            <a:ext cx="11587943" cy="50782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1" i="0" u="none" strike="noStrike" cap="none" dirty="0">
                <a:solidFill>
                  <a:srgbClr val="000000"/>
                </a:solidFill>
                <a:latin typeface="Arial"/>
                <a:ea typeface="Arial"/>
                <a:cs typeface="Arial"/>
                <a:sym typeface="Arial"/>
              </a:rPr>
              <a:t>Tech Stack (Mandatory)</a:t>
            </a:r>
            <a:r>
              <a:rPr lang="en-US" sz="3600" b="0" i="0" u="none" strike="noStrike" cap="none" dirty="0">
                <a:solidFill>
                  <a:srgbClr val="000000"/>
                </a:solidFill>
                <a:latin typeface="Arial"/>
                <a:ea typeface="Arial"/>
                <a:cs typeface="Arial"/>
                <a:sym typeface="Arial"/>
              </a:rPr>
              <a:t> </a:t>
            </a:r>
            <a:endParaRPr sz="3600" dirty="0"/>
          </a:p>
          <a:p>
            <a:pPr marL="0" marR="0" lvl="0" indent="0" algn="l" rtl="0">
              <a:lnSpc>
                <a:spcPct val="100000"/>
              </a:lnSpc>
              <a:spcBef>
                <a:spcPts val="0"/>
              </a:spcBef>
              <a:spcAft>
                <a:spcPts val="0"/>
              </a:spcAft>
              <a:buNone/>
            </a:pPr>
            <a:r>
              <a:rPr lang="en-US" sz="3600" b="0" i="0" u="none" strike="noStrike" cap="none" dirty="0">
                <a:solidFill>
                  <a:srgbClr val="000000"/>
                </a:solidFill>
                <a:latin typeface="Arial"/>
                <a:ea typeface="Arial"/>
                <a:cs typeface="Arial"/>
                <a:sym typeface="Arial"/>
              </a:rPr>
              <a:t>Use </a:t>
            </a:r>
            <a:r>
              <a:rPr lang="en-US" sz="3600" b="1" i="0" u="none" strike="noStrike" cap="none" dirty="0">
                <a:solidFill>
                  <a:srgbClr val="000000"/>
                </a:solidFill>
                <a:latin typeface="Arial"/>
                <a:ea typeface="Arial"/>
                <a:cs typeface="Arial"/>
                <a:sym typeface="Arial"/>
              </a:rPr>
              <a:t>any one</a:t>
            </a:r>
            <a:r>
              <a:rPr lang="en-US" sz="3600" b="0" i="0" u="none" strike="noStrike" cap="none" dirty="0">
                <a:solidFill>
                  <a:srgbClr val="000000"/>
                </a:solidFill>
                <a:latin typeface="Arial"/>
                <a:ea typeface="Arial"/>
                <a:cs typeface="Arial"/>
                <a:sym typeface="Arial"/>
              </a:rPr>
              <a:t> of the following approaches: </a:t>
            </a:r>
            <a:endParaRPr sz="3600" dirty="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dirty="0" err="1">
                <a:solidFill>
                  <a:srgbClr val="000000"/>
                </a:solidFill>
                <a:latin typeface="Arial"/>
                <a:ea typeface="Arial"/>
                <a:cs typeface="Arial"/>
                <a:sym typeface="Arial"/>
              </a:rPr>
              <a:t>LangFlow</a:t>
            </a:r>
            <a:r>
              <a:rPr lang="en-US" sz="3600" b="0" i="0" u="none" strike="noStrike" cap="none" dirty="0">
                <a:solidFill>
                  <a:srgbClr val="000000"/>
                </a:solidFill>
                <a:latin typeface="Arial"/>
                <a:ea typeface="Arial"/>
                <a:cs typeface="Arial"/>
                <a:sym typeface="Arial"/>
              </a:rPr>
              <a:t> + IBM watsonx.ai + Granite Models </a:t>
            </a:r>
            <a:endParaRPr sz="3600" dirty="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Arial"/>
                <a:ea typeface="Arial"/>
                <a:cs typeface="Arial"/>
                <a:sym typeface="Arial"/>
              </a:rPr>
              <a:t>IBM Cloud Agentic Lab with IBM Granite Models </a:t>
            </a:r>
            <a:endParaRPr sz="3600" dirty="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Arial"/>
                <a:ea typeface="Arial"/>
                <a:cs typeface="Arial"/>
                <a:sym typeface="Arial"/>
              </a:rPr>
              <a:t>Replicate with </a:t>
            </a:r>
            <a:r>
              <a:rPr lang="en-US" sz="3600" b="0" i="0" u="none" strike="noStrike" cap="none" dirty="0" err="1">
                <a:solidFill>
                  <a:srgbClr val="000000"/>
                </a:solidFill>
                <a:latin typeface="Arial"/>
                <a:ea typeface="Arial"/>
                <a:cs typeface="Arial"/>
                <a:sym typeface="Arial"/>
              </a:rPr>
              <a:t>LangChain</a:t>
            </a:r>
            <a:r>
              <a:rPr lang="en-US" sz="3600" b="0" i="0" u="none" strike="noStrike" cap="none" dirty="0">
                <a:solidFill>
                  <a:srgbClr val="000000"/>
                </a:solidFill>
                <a:latin typeface="Arial"/>
                <a:ea typeface="Arial"/>
                <a:cs typeface="Arial"/>
                <a:sym typeface="Arial"/>
              </a:rPr>
              <a:t> + RAG + IBM Granite Models</a:t>
            </a:r>
            <a:endParaRPr sz="3600" dirty="0"/>
          </a:p>
          <a:p>
            <a:pPr marL="285750" marR="0" lvl="0" indent="-196850" algn="l" rtl="0">
              <a:lnSpc>
                <a:spcPct val="100000"/>
              </a:lnSpc>
              <a:spcBef>
                <a:spcPts val="0"/>
              </a:spcBef>
              <a:spcAft>
                <a:spcPts val="0"/>
              </a:spcAft>
              <a:buClr>
                <a:srgbClr val="000000"/>
              </a:buClr>
              <a:buSzPts val="1400"/>
              <a:buFont typeface="Arial"/>
              <a:buNone/>
            </a:pPr>
            <a:endParaRPr sz="3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0" i="0" u="none" strike="noStrike" cap="none" dirty="0">
                <a:solidFill>
                  <a:srgbClr val="000000"/>
                </a:solidFill>
                <a:latin typeface="Arial"/>
                <a:ea typeface="Arial"/>
                <a:cs typeface="Arial"/>
                <a:sym typeface="Arial"/>
              </a:rPr>
              <a:t>I used </a:t>
            </a:r>
            <a:r>
              <a:rPr lang="en-US" sz="3600" b="0" i="0" u="none" strike="noStrike" cap="none" dirty="0" err="1">
                <a:solidFill>
                  <a:srgbClr val="000000"/>
                </a:solidFill>
                <a:highlight>
                  <a:srgbClr val="FFFF00"/>
                </a:highlight>
                <a:latin typeface="Arial"/>
                <a:ea typeface="Arial"/>
                <a:cs typeface="Arial"/>
                <a:sym typeface="Arial"/>
              </a:rPr>
              <a:t>LangFlow</a:t>
            </a:r>
            <a:r>
              <a:rPr lang="en-US" sz="3600" b="0" i="0" u="none" strike="noStrike" cap="none" dirty="0">
                <a:solidFill>
                  <a:srgbClr val="000000"/>
                </a:solidFill>
                <a:highlight>
                  <a:srgbClr val="FFFF00"/>
                </a:highlight>
                <a:latin typeface="Arial"/>
                <a:ea typeface="Arial"/>
                <a:cs typeface="Arial"/>
                <a:sym typeface="Arial"/>
              </a:rPr>
              <a:t> + IBM watsonx.ai + Granite Models</a:t>
            </a:r>
            <a:endParaRPr sz="3600" dirty="0"/>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74633"/>
            <a:ext cx="10607040" cy="39702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lvl="0"/>
            <a:r>
              <a:rPr lang="en-US" sz="1400" b="1" i="0" u="none" strike="noStrike" cap="none" dirty="0">
                <a:solidFill>
                  <a:srgbClr val="000000"/>
                </a:solidFill>
                <a:latin typeface="Arial"/>
                <a:ea typeface="Arial"/>
                <a:cs typeface="Arial"/>
                <a:sym typeface="Arial"/>
              </a:rPr>
              <a:t>Proposed Solution: </a:t>
            </a:r>
            <a:r>
              <a:rPr lang="en-US" b="1" dirty="0"/>
              <a:t>Smart Home Energy Advisor Agent</a:t>
            </a:r>
            <a:endParaRPr dirty="0"/>
          </a:p>
          <a:p>
            <a:endParaRPr lang="en-US" sz="1400" b="0" i="0" u="none" strike="noStrike" cap="none" dirty="0">
              <a:solidFill>
                <a:srgbClr val="000000"/>
              </a:solidFill>
              <a:latin typeface="Arial"/>
              <a:ea typeface="Arial"/>
              <a:cs typeface="Arial"/>
              <a:sym typeface="Arial"/>
            </a:endParaRPr>
          </a:p>
          <a:p>
            <a:r>
              <a:rPr lang="en-US" sz="1400" b="0" i="0" u="none" strike="noStrike" cap="none" dirty="0">
                <a:solidFill>
                  <a:srgbClr val="000000"/>
                </a:solidFill>
                <a:latin typeface="Arial"/>
                <a:ea typeface="Arial"/>
                <a:cs typeface="Arial"/>
                <a:sym typeface="Arial"/>
              </a:rPr>
              <a:t>The proposed solution is a </a:t>
            </a:r>
            <a:r>
              <a:rPr lang="en-US" dirty="0"/>
              <a:t>Build an AI-powered Smart Home Energy Advisor Agent that analyzes household electricity consumption data and provides intelligent recommendations to optimize energy usage. </a:t>
            </a:r>
          </a:p>
          <a:p>
            <a:endParaRPr lang="en-US" b="1" dirty="0"/>
          </a:p>
          <a:p>
            <a:r>
              <a:rPr lang="en-US" b="1" dirty="0"/>
              <a:t>Energy Consumption Analysis – </a:t>
            </a:r>
            <a:r>
              <a:rPr lang="en-US" dirty="0"/>
              <a:t>Analyze household electricity usage patterns from smart meters or appliance usage logs. </a:t>
            </a:r>
          </a:p>
          <a:p>
            <a:endParaRPr lang="en-US" b="1" dirty="0"/>
          </a:p>
          <a:p>
            <a:r>
              <a:rPr lang="en-US" b="1" dirty="0"/>
              <a:t>Personalized Energy Recommendations – </a:t>
            </a:r>
            <a:r>
              <a:rPr lang="en-US" dirty="0"/>
              <a:t>Suggest energy-saving actions based on the user's consumption behavior and daily routines. </a:t>
            </a:r>
          </a:p>
          <a:p>
            <a:endParaRPr lang="en-US" b="1" dirty="0"/>
          </a:p>
          <a:p>
            <a:r>
              <a:rPr lang="en-US" b="1" dirty="0"/>
              <a:t>Appliance Usage Insights – </a:t>
            </a:r>
            <a:r>
              <a:rPr lang="en-US" dirty="0"/>
              <a:t>Identify appliances that consume the most electricity and recommend optimal usage strategies. </a:t>
            </a:r>
          </a:p>
          <a:p>
            <a:endParaRPr lang="en-US" b="1" dirty="0"/>
          </a:p>
          <a:p>
            <a:r>
              <a:rPr lang="en-US" b="1" dirty="0"/>
              <a:t>Electricity Bill Estimation – </a:t>
            </a:r>
            <a:r>
              <a:rPr lang="en-US" dirty="0"/>
              <a:t>Predict monthly electricity bills based on current usage patterns and tariff structures. </a:t>
            </a:r>
          </a:p>
          <a:p>
            <a:endParaRPr lang="en-US" b="1" dirty="0"/>
          </a:p>
          <a:p>
            <a:r>
              <a:rPr lang="en-US" b="1" dirty="0"/>
              <a:t>Energy Efficiency Suggestions – </a:t>
            </a:r>
            <a:r>
              <a:rPr lang="en-US" dirty="0"/>
              <a:t>Recommend simple practices such as reducing peak-hour usage, scheduling heavy appliances, or upgrading to energy-efficient devices.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2" y="863187"/>
            <a:ext cx="8823960" cy="4401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Chat Input </a:t>
            </a:r>
            <a:r>
              <a:rPr lang="en-US" sz="1400" b="0" i="0" u="none" strike="noStrike" cap="none" dirty="0">
                <a:solidFill>
                  <a:srgbClr val="000000"/>
                </a:solidFill>
                <a:latin typeface="Arial"/>
                <a:ea typeface="Arial"/>
                <a:cs typeface="Arial"/>
                <a:sym typeface="Arial"/>
              </a:rPr>
              <a:t>– Interface where users enter their queries, preferences, or meal details (text/voice/image).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IBM </a:t>
            </a:r>
            <a:r>
              <a:rPr lang="en-US" sz="1400" b="1" i="0" u="none" strike="noStrike" cap="none" dirty="0" err="1">
                <a:solidFill>
                  <a:srgbClr val="000000"/>
                </a:solidFill>
                <a:latin typeface="Arial"/>
                <a:ea typeface="Arial"/>
                <a:cs typeface="Arial"/>
                <a:sym typeface="Arial"/>
              </a:rPr>
              <a:t>watsonx</a:t>
            </a:r>
            <a:r>
              <a:rPr lang="en-US" sz="1400" b="1" i="0" u="none" strike="noStrike" cap="none" dirty="0">
                <a:solidFill>
                  <a:srgbClr val="000000"/>
                </a:solidFill>
                <a:latin typeface="Arial"/>
                <a:ea typeface="Arial"/>
                <a:cs typeface="Arial"/>
                <a:sym typeface="Arial"/>
              </a:rPr>
              <a:t> AI Agent </a:t>
            </a:r>
            <a:r>
              <a:rPr lang="en-US" sz="1400" b="0" i="0" u="none" strike="noStrike" cap="none" dirty="0">
                <a:solidFill>
                  <a:srgbClr val="000000"/>
                </a:solidFill>
                <a:latin typeface="Arial"/>
                <a:ea typeface="Arial"/>
                <a:cs typeface="Arial"/>
                <a:sym typeface="Arial"/>
              </a:rPr>
              <a:t>- Processes user input using Granite models to generate personalized nutrition insights and recommendations.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3) Name of IBM Granite model - </a:t>
            </a:r>
            <a:r>
              <a:rPr lang="en-US" sz="1400" b="0" i="0" u="none" strike="noStrike" cap="none" dirty="0">
                <a:solidFill>
                  <a:srgbClr val="000000"/>
                </a:solidFill>
                <a:latin typeface="Arial"/>
                <a:ea typeface="Arial"/>
                <a:cs typeface="Arial"/>
                <a:sym typeface="Arial"/>
              </a:rPr>
              <a:t>Granite-4.0-8B-Instruct → Fast, efficient for real-time diet recommendations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lvl="0"/>
            <a:r>
              <a:rPr lang="en-US" sz="1400" b="1" i="0" u="none" strike="noStrike" cap="none" dirty="0">
                <a:solidFill>
                  <a:srgbClr val="000000"/>
                </a:solidFill>
                <a:latin typeface="Arial"/>
                <a:ea typeface="Arial"/>
                <a:cs typeface="Arial"/>
                <a:sym typeface="Arial"/>
              </a:rPr>
              <a:t>4) Chat output -</a:t>
            </a:r>
            <a:r>
              <a:rPr lang="en-US" sz="1400" b="0" i="0" u="none" strike="noStrike" cap="none" dirty="0">
                <a:solidFill>
                  <a:srgbClr val="000000"/>
                </a:solidFill>
                <a:latin typeface="Arial"/>
                <a:ea typeface="Arial"/>
                <a:cs typeface="Arial"/>
                <a:sym typeface="Arial"/>
              </a:rPr>
              <a:t>Displays AI-generated responses such as </a:t>
            </a:r>
            <a:r>
              <a:rPr lang="en-US" dirty="0"/>
              <a:t>recommendations to optimize energy usage</a:t>
            </a:r>
            <a:r>
              <a:rPr lang="en-US" sz="1400" b="0" i="0" u="none" strike="noStrike" cap="none" dirty="0">
                <a:solidFill>
                  <a:srgbClr val="000000"/>
                </a:solidFill>
                <a:latin typeface="Arial"/>
                <a:ea typeface="Arial"/>
                <a:cs typeface="Arial"/>
                <a:sym typeface="Arial"/>
              </a:rPr>
              <a:t>, Appliance Usage Insights, Electricity Bill Estimation  and Energy Efficiency Suggestions.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5) </a:t>
            </a:r>
            <a:r>
              <a:rPr lang="en-US" sz="1400" b="1" i="0" u="none" strike="noStrike" cap="none" dirty="0">
                <a:solidFill>
                  <a:srgbClr val="000000"/>
                </a:solidFill>
                <a:highlight>
                  <a:srgbClr val="FFFF00"/>
                </a:highlight>
                <a:latin typeface="Arial"/>
                <a:ea typeface="Arial"/>
                <a:cs typeface="Arial"/>
                <a:sym typeface="Arial"/>
              </a:rPr>
              <a:t>File component - </a:t>
            </a:r>
            <a:r>
              <a:rPr lang="en-US" sz="1400" b="0" i="0" u="none" strike="noStrike" cap="none" dirty="0">
                <a:solidFill>
                  <a:srgbClr val="000000"/>
                </a:solidFill>
                <a:highlight>
                  <a:srgbClr val="FFFF00"/>
                </a:highlight>
                <a:latin typeface="Arial"/>
                <a:ea typeface="Arial"/>
                <a:cs typeface="Arial"/>
                <a:sym typeface="Arial"/>
              </a:rPr>
              <a:t>Stores and retrieves user data, Energy usage logs, Electricity Bill  and Energy Consumption for analysis and tracking.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C1BC3ECD-8E92-2E3F-5222-1529028E904F}"/>
              </a:ext>
            </a:extLst>
          </p:cNvPr>
          <p:cNvPicPr>
            <a:picLocks noChangeAspect="1"/>
          </p:cNvPicPr>
          <p:nvPr/>
        </p:nvPicPr>
        <p:blipFill>
          <a:blip r:embed="rId3"/>
          <a:stretch>
            <a:fillRect/>
          </a:stretch>
        </p:blipFill>
        <p:spPr>
          <a:xfrm>
            <a:off x="0" y="866719"/>
            <a:ext cx="12192000" cy="51245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68FD0442-C913-4940-5DA2-41B4CFD9CA05}"/>
              </a:ext>
            </a:extLst>
          </p:cNvPr>
          <p:cNvPicPr>
            <a:picLocks noChangeAspect="1"/>
          </p:cNvPicPr>
          <p:nvPr/>
        </p:nvPicPr>
        <p:blipFill>
          <a:blip r:embed="rId3"/>
          <a:stretch>
            <a:fillRect/>
          </a:stretch>
        </p:blipFill>
        <p:spPr>
          <a:xfrm>
            <a:off x="1231342" y="727110"/>
            <a:ext cx="8917493" cy="59449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Role of Agentic AI in Nutrition Agent</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Agentic AI</a:t>
            </a:r>
            <a:r>
              <a:rPr lang="en-US" sz="1400" b="0" i="0" u="none" strike="noStrike" cap="none">
                <a:solidFill>
                  <a:srgbClr val="000000"/>
                </a:solidFill>
                <a:latin typeface="Arial"/>
                <a:ea typeface="Arial"/>
                <a:cs typeface="Arial"/>
                <a:sym typeface="Arial"/>
              </a:rPr>
              <a:t> enables the Nutrition Agent to function as an intelligent, autonomous system rather than a simple chatbot. Using </a:t>
            </a:r>
            <a:r>
              <a:rPr lang="en-US" sz="1400" b="1" i="0" u="none" strike="noStrike" cap="none">
                <a:solidFill>
                  <a:srgbClr val="000000"/>
                </a:solidFill>
                <a:latin typeface="Arial"/>
                <a:ea typeface="Arial"/>
                <a:cs typeface="Arial"/>
                <a:sym typeface="Arial"/>
              </a:rPr>
              <a:t>IBM watsonx.ai</a:t>
            </a:r>
            <a:r>
              <a:rPr lang="en-US" sz="1400" b="0" i="0" u="none" strike="noStrike" cap="none">
                <a:solidFill>
                  <a:srgbClr val="000000"/>
                </a:solidFill>
                <a:latin typeface="Arial"/>
                <a:ea typeface="Arial"/>
                <a:cs typeface="Arial"/>
                <a:sym typeface="Arial"/>
              </a:rPr>
              <a:t> and </a:t>
            </a:r>
            <a:r>
              <a:rPr lang="en-US" sz="1400" b="1" i="0" u="none" strike="noStrike" cap="none">
                <a:solidFill>
                  <a:srgbClr val="000000"/>
                </a:solidFill>
                <a:latin typeface="Arial"/>
                <a:ea typeface="Arial"/>
                <a:cs typeface="Arial"/>
                <a:sym typeface="Arial"/>
              </a:rPr>
              <a:t>IBM Granite models</a:t>
            </a:r>
            <a:r>
              <a:rPr lang="en-US" sz="1400" b="0" i="0" u="none" strike="noStrike" cap="none">
                <a:solidFill>
                  <a:srgbClr val="000000"/>
                </a:solidFill>
                <a:latin typeface="Arial"/>
                <a:ea typeface="Arial"/>
                <a:cs typeface="Arial"/>
                <a:sym typeface="Arial"/>
              </a:rPr>
              <a:t>, it coordinates multiple specialized agents to deliver personalized nutrition guidance.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Each agent performs a specific role—such as retrieving nutritional data, generating diet plans, providing health advice, and analyzing food logs—while working collaboratively. This </a:t>
            </a:r>
            <a:r>
              <a:rPr lang="en-US" sz="1400" b="1" i="0" u="none" strike="noStrike" cap="none">
                <a:solidFill>
                  <a:srgbClr val="000000"/>
                </a:solidFill>
                <a:latin typeface="Arial"/>
                <a:ea typeface="Arial"/>
                <a:cs typeface="Arial"/>
                <a:sym typeface="Arial"/>
              </a:rPr>
              <a:t>multi-agent approach</a:t>
            </a:r>
            <a:r>
              <a:rPr lang="en-US" sz="1400" b="0" i="0" u="none" strike="noStrike" cap="none">
                <a:solidFill>
                  <a:srgbClr val="000000"/>
                </a:solidFill>
                <a:latin typeface="Arial"/>
                <a:ea typeface="Arial"/>
                <a:cs typeface="Arial"/>
                <a:sym typeface="Arial"/>
              </a:rPr>
              <a:t> ensures efficient task execution and accurate results.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Agentic AI also brings </a:t>
            </a:r>
            <a:r>
              <a:rPr lang="en-US" sz="1400" b="1" i="0" u="none" strike="noStrike" cap="none">
                <a:solidFill>
                  <a:srgbClr val="000000"/>
                </a:solidFill>
                <a:latin typeface="Arial"/>
                <a:ea typeface="Arial"/>
                <a:cs typeface="Arial"/>
                <a:sym typeface="Arial"/>
              </a:rPr>
              <a:t>context awareness</a:t>
            </a:r>
            <a:r>
              <a:rPr lang="en-US" sz="1400" b="0" i="0" u="none" strike="noStrike" cap="none">
                <a:solidFill>
                  <a:srgbClr val="000000"/>
                </a:solidFill>
                <a:latin typeface="Arial"/>
                <a:ea typeface="Arial"/>
                <a:cs typeface="Arial"/>
                <a:sym typeface="Arial"/>
              </a:rPr>
              <a:t>, understanding user details like age, health conditions, and fitness goals to generate tailored recommendations. It supports </a:t>
            </a:r>
            <a:r>
              <a:rPr lang="en-US" sz="1400" b="1" i="0" u="none" strike="noStrike" cap="none">
                <a:solidFill>
                  <a:srgbClr val="000000"/>
                </a:solidFill>
                <a:latin typeface="Arial"/>
                <a:ea typeface="Arial"/>
                <a:cs typeface="Arial"/>
                <a:sym typeface="Arial"/>
              </a:rPr>
              <a:t>real-time adaptation</a:t>
            </a:r>
            <a:r>
              <a:rPr lang="en-US" sz="1400" b="0" i="0" u="none" strike="noStrike" cap="none">
                <a:solidFill>
                  <a:srgbClr val="000000"/>
                </a:solidFill>
                <a:latin typeface="Arial"/>
                <a:ea typeface="Arial"/>
                <a:cs typeface="Arial"/>
                <a:sym typeface="Arial"/>
              </a:rPr>
              <a:t>, continuously updating suggestions based on user inputs like daily meals.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Additionally, agents communicate with each other, enabling better decision-making and improved outcomes.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Overall, Agentic AI makes the system proactive, personalized, and goal-driven, acting like a </a:t>
            </a:r>
            <a:r>
              <a:rPr lang="en-US" sz="1400" b="1" i="0" u="none" strike="noStrike" cap="none">
                <a:solidFill>
                  <a:srgbClr val="000000"/>
                </a:solidFill>
                <a:latin typeface="Arial"/>
                <a:ea typeface="Arial"/>
                <a:cs typeface="Arial"/>
                <a:sym typeface="Arial"/>
              </a:rPr>
              <a:t>smart digital nutritionist</a:t>
            </a:r>
            <a:r>
              <a:rPr lang="en-US" sz="1400" b="0" i="0" u="none" strike="noStrike" cap="none">
                <a:solidFill>
                  <a:srgbClr val="000000"/>
                </a:solidFill>
                <a:latin typeface="Arial"/>
                <a:ea typeface="Arial"/>
                <a:cs typeface="Arial"/>
                <a:sym typeface="Arial"/>
              </a:rPr>
              <a:t> that helps users maintain a healthy lifestyle.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5509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Langflow platform </a:t>
            </a:r>
            <a:r>
              <a:rPr lang="en-US" sz="1800" b="0" i="0" u="none" strike="noStrike" cap="none">
                <a:solidFill>
                  <a:srgbClr val="000000"/>
                </a:solidFill>
                <a:latin typeface="Arial"/>
                <a:ea typeface="Arial"/>
                <a:cs typeface="Arial"/>
                <a:sym typeface="Arial"/>
              </a:rPr>
              <a:t>-For designing and orchestrating multi-agent workflows visually</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Grainte model </a:t>
            </a:r>
            <a:r>
              <a:rPr lang="en-US" sz="1800" b="0" i="0" u="none" strike="noStrike" cap="none">
                <a:solidFill>
                  <a:srgbClr val="000000"/>
                </a:solidFill>
                <a:latin typeface="Arial"/>
                <a:ea typeface="Arial"/>
                <a:cs typeface="Arial"/>
                <a:sym typeface="Arial"/>
              </a:rPr>
              <a:t>-  for eg – ibm-granite-3-2-8b – For natural language understanding, reasoning, and personalization</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Cloud </a:t>
            </a:r>
            <a:r>
              <a:rPr lang="en-US" sz="1800" b="0" i="0" u="none" strike="noStrike" cap="none">
                <a:solidFill>
                  <a:srgbClr val="000000"/>
                </a:solidFill>
                <a:latin typeface="Arial"/>
                <a:ea typeface="Arial"/>
                <a:cs typeface="Arial"/>
                <a:sym typeface="Arial"/>
              </a:rPr>
              <a:t>– It provides the infrastructure to build, deploy, and scale the Nutrition Agent efficiently. IBM Cloud enables a </a:t>
            </a:r>
            <a:r>
              <a:rPr lang="en-US" sz="1800" b="1" i="0" u="none" strike="noStrike" cap="none">
                <a:solidFill>
                  <a:srgbClr val="000000"/>
                </a:solidFill>
                <a:latin typeface="Arial"/>
                <a:ea typeface="Arial"/>
                <a:cs typeface="Arial"/>
                <a:sym typeface="Arial"/>
              </a:rPr>
              <a:t>reliable, secure, and scalable environment</a:t>
            </a:r>
            <a:r>
              <a:rPr lang="en-US" sz="1800" b="0" i="0" u="none" strike="noStrike" cap="none">
                <a:solidFill>
                  <a:srgbClr val="000000"/>
                </a:solidFill>
                <a:latin typeface="Arial"/>
                <a:ea typeface="Arial"/>
                <a:cs typeface="Arial"/>
                <a:sym typeface="Arial"/>
              </a:rPr>
              <a:t> for deploying the Nutrition Agent.</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RAG– </a:t>
            </a:r>
            <a:r>
              <a:rPr lang="en-US" sz="1800" b="0" i="0" u="none" strike="noStrike" cap="none">
                <a:solidFill>
                  <a:srgbClr val="000000"/>
                </a:solidFill>
                <a:latin typeface="Arial"/>
                <a:ea typeface="Arial"/>
                <a:cs typeface="Arial"/>
                <a:sym typeface="Arial"/>
              </a:rPr>
              <a:t>RAG to </a:t>
            </a:r>
            <a:r>
              <a:rPr lang="en-US" sz="1800" b="1" i="0" u="none" strike="noStrike" cap="none">
                <a:solidFill>
                  <a:srgbClr val="000000"/>
                </a:solidFill>
                <a:latin typeface="Arial"/>
                <a:ea typeface="Arial"/>
                <a:cs typeface="Arial"/>
                <a:sym typeface="Arial"/>
              </a:rPr>
              <a:t>fetch real data first, then generate intelligent answers</a:t>
            </a:r>
            <a:r>
              <a:rPr lang="en-US" sz="1800" b="0" i="0" u="none" strike="noStrike" cap="none">
                <a:solidFill>
                  <a:srgbClr val="000000"/>
                </a:solidFill>
                <a:latin typeface="Arial"/>
                <a:ea typeface="Arial"/>
                <a:cs typeface="Arial"/>
                <a:sym typeface="Arial"/>
              </a:rPr>
              <a:t>, making the Nutrition Agent more trustworthy and effective.</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Watsonx.ai - </a:t>
            </a:r>
            <a:r>
              <a:rPr lang="en-US" sz="1800" b="0" i="0" u="none" strike="noStrike" cap="none">
                <a:solidFill>
                  <a:srgbClr val="000000"/>
                </a:solidFill>
                <a:latin typeface="Arial"/>
                <a:ea typeface="Arial"/>
                <a:cs typeface="Arial"/>
                <a:sym typeface="Arial"/>
              </a:rPr>
              <a:t>For model deployment, embeddings, and AI governance</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Vector Database </a:t>
            </a:r>
            <a:r>
              <a:rPr lang="en-US" sz="1800" b="0" i="0" u="none" strike="noStrike" cap="none">
                <a:solidFill>
                  <a:srgbClr val="000000"/>
                </a:solidFill>
                <a:latin typeface="Arial"/>
                <a:ea typeface="Arial"/>
                <a:cs typeface="Arial"/>
                <a:sym typeface="Arial"/>
              </a:rPr>
              <a:t>(FAISS/Chroma) – For RAG-based nutritional data retrieval</a:t>
            </a: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5" name="Google Shape;155;p40"/>
          <p:cNvSpPr txBox="1"/>
          <p:nvPr/>
        </p:nvSpPr>
        <p:spPr>
          <a:xfrm>
            <a:off x="897392" y="1042133"/>
            <a:ext cx="4371171" cy="307736"/>
          </a:xfrm>
          <a:prstGeom prst="rect">
            <a:avLst/>
          </a:prstGeom>
          <a:noFill/>
          <a:ln>
            <a:noFill/>
          </a:ln>
        </p:spPr>
        <p:txBody>
          <a:bodyPr spcFirstLastPara="1" wrap="square" lIns="91425" tIns="45700" rIns="91425" bIns="45700" anchor="t" anchorCtr="0">
            <a:spAutoFit/>
          </a:bodyPr>
          <a:lstStyle/>
          <a:p>
            <a:r>
              <a:rPr lang="en-IN" dirty="0"/>
              <a:t>14944</a:t>
            </a:r>
            <a:r>
              <a:rPr lang="en-US" sz="1400" b="0" i="0" u="none" strike="noStrike" cap="none" dirty="0">
                <a:solidFill>
                  <a:srgbClr val="000000"/>
                </a:solidFill>
                <a:latin typeface="Arial"/>
                <a:ea typeface="Arial"/>
                <a:cs typeface="Arial"/>
                <a:sym typeface="Arial"/>
              </a:rPr>
              <a:t> token are used</a:t>
            </a:r>
            <a:endParaRPr dirty="0"/>
          </a:p>
        </p:txBody>
      </p:sp>
      <p:pic>
        <p:nvPicPr>
          <p:cNvPr id="3" name="Picture 2">
            <a:extLst>
              <a:ext uri="{FF2B5EF4-FFF2-40B4-BE49-F238E27FC236}">
                <a16:creationId xmlns:a16="http://schemas.microsoft.com/office/drawing/2014/main" id="{1FE5AF35-8BD4-9C9F-4905-4D2CDFB98F3A}"/>
              </a:ext>
            </a:extLst>
          </p:cNvPr>
          <p:cNvPicPr>
            <a:picLocks noChangeAspect="1"/>
          </p:cNvPicPr>
          <p:nvPr/>
        </p:nvPicPr>
        <p:blipFill>
          <a:blip r:embed="rId3"/>
          <a:stretch>
            <a:fillRect/>
          </a:stretch>
        </p:blipFill>
        <p:spPr>
          <a:xfrm>
            <a:off x="448696" y="1422281"/>
            <a:ext cx="11294608" cy="46861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61" name="Google Shape;161;p41"/>
          <p:cNvSpPr txBox="1"/>
          <p:nvPr/>
        </p:nvSpPr>
        <p:spPr>
          <a:xfrm>
            <a:off x="777240" y="1207008"/>
            <a:ext cx="11301984" cy="52937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The proposed Nutrition Agent stands out by combining </a:t>
            </a:r>
            <a:r>
              <a:rPr lang="en-US" sz="1800" b="1" i="0" u="none" strike="noStrike" cap="none">
                <a:solidFill>
                  <a:srgbClr val="000000"/>
                </a:solidFill>
                <a:latin typeface="Arial"/>
                <a:ea typeface="Arial"/>
                <a:cs typeface="Arial"/>
                <a:sym typeface="Arial"/>
              </a:rPr>
              <a:t>Agentic AI, RAG, and personalization</a:t>
            </a:r>
            <a:r>
              <a:rPr lang="en-US" sz="1800" b="0" i="0" u="none" strike="noStrike" cap="none">
                <a:solidFill>
                  <a:srgbClr val="000000"/>
                </a:solidFill>
                <a:latin typeface="Arial"/>
                <a:ea typeface="Arial"/>
                <a:cs typeface="Arial"/>
                <a:sym typeface="Arial"/>
              </a:rPr>
              <a:t> into a single intelligent system.</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Multi-Agent Intelligence</a:t>
            </a:r>
            <a:r>
              <a:rPr lang="en-US" sz="1800" b="0" i="0" u="none" strike="noStrike" cap="none">
                <a:solidFill>
                  <a:srgbClr val="000000"/>
                </a:solidFill>
                <a:latin typeface="Arial"/>
                <a:ea typeface="Arial"/>
                <a:cs typeface="Arial"/>
                <a:sym typeface="Arial"/>
              </a:rPr>
              <a:t> – Instead of a single chatbot, multiple specialized agents collaborate to deliver accurate and context-aware nutrition guidance.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RAG-Based Accuracy</a:t>
            </a:r>
            <a:r>
              <a:rPr lang="en-US" sz="1800" b="0" i="0" u="none" strike="noStrike" cap="none">
                <a:solidFill>
                  <a:srgbClr val="000000"/>
                </a:solidFill>
                <a:latin typeface="Arial"/>
                <a:ea typeface="Arial"/>
                <a:cs typeface="Arial"/>
                <a:sym typeface="Arial"/>
              </a:rPr>
              <a:t> – Integrates real-time data retrieval with AI generation, reducing misinformation and ensuring trustworthy recommendations.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Hyper-Personalization</a:t>
            </a:r>
            <a:r>
              <a:rPr lang="en-US" sz="1800" b="0" i="0" u="none" strike="noStrike" cap="none">
                <a:solidFill>
                  <a:srgbClr val="000000"/>
                </a:solidFill>
                <a:latin typeface="Arial"/>
                <a:ea typeface="Arial"/>
                <a:cs typeface="Arial"/>
                <a:sym typeface="Arial"/>
              </a:rPr>
              <a:t> – Tailors diet plans based on health conditions, cultural preferences, and fitness goals.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Real-Time Feedback Loop</a:t>
            </a:r>
            <a:r>
              <a:rPr lang="en-US" sz="1800" b="0" i="0" u="none" strike="noStrike" cap="none">
                <a:solidFill>
                  <a:srgbClr val="000000"/>
                </a:solidFill>
                <a:latin typeface="Arial"/>
                <a:ea typeface="Arial"/>
                <a:cs typeface="Arial"/>
                <a:sym typeface="Arial"/>
              </a:rPr>
              <a:t> – Continuously adapts recommendations based on daily food logs and user behavior.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Multi-Modal Input</a:t>
            </a:r>
            <a:r>
              <a:rPr lang="en-US" sz="1800" b="0" i="0" u="none" strike="noStrike" cap="none">
                <a:solidFill>
                  <a:srgbClr val="000000"/>
                </a:solidFill>
                <a:latin typeface="Arial"/>
                <a:ea typeface="Arial"/>
                <a:cs typeface="Arial"/>
                <a:sym typeface="Arial"/>
              </a:rPr>
              <a:t> – Supports text, voice, and image-based meal tracking for better usability.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Preventive Healthcare Focus</a:t>
            </a:r>
            <a:r>
              <a:rPr lang="en-US" sz="1800" b="0" i="0" u="none" strike="noStrike" cap="none">
                <a:solidFill>
                  <a:srgbClr val="000000"/>
                </a:solidFill>
                <a:latin typeface="Arial"/>
                <a:ea typeface="Arial"/>
                <a:cs typeface="Arial"/>
                <a:sym typeface="Arial"/>
              </a:rPr>
              <a:t> – Goes beyond diet planning to provide disease-specific nutrition advice.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Scalable &amp; Enterprise-Ready</a:t>
            </a:r>
            <a:r>
              <a:rPr lang="en-US" sz="1800" b="0" i="0" u="none" strike="noStrike" cap="none">
                <a:solidFill>
                  <a:srgbClr val="000000"/>
                </a:solidFill>
                <a:latin typeface="Arial"/>
                <a:ea typeface="Arial"/>
                <a:cs typeface="Arial"/>
                <a:sym typeface="Arial"/>
              </a:rPr>
              <a:t> – Built on </a:t>
            </a:r>
            <a:r>
              <a:rPr lang="en-US" sz="1800" b="1" i="0" u="none" strike="noStrike" cap="none">
                <a:solidFill>
                  <a:srgbClr val="000000"/>
                </a:solidFill>
                <a:latin typeface="Arial"/>
                <a:ea typeface="Arial"/>
                <a:cs typeface="Arial"/>
                <a:sym typeface="Arial"/>
              </a:rPr>
              <a:t>IBM watsonx.ai</a:t>
            </a:r>
            <a:r>
              <a:rPr lang="en-US" sz="1800" b="0" i="0" u="none" strike="noStrike" cap="none">
                <a:solidFill>
                  <a:srgbClr val="000000"/>
                </a:solidFill>
                <a:latin typeface="Arial"/>
                <a:ea typeface="Arial"/>
                <a:cs typeface="Arial"/>
                <a:sym typeface="Arial"/>
              </a:rPr>
              <a:t> with </a:t>
            </a:r>
            <a:r>
              <a:rPr lang="en-US" sz="1800" b="1" i="0" u="none" strike="noStrike" cap="none">
                <a:solidFill>
                  <a:srgbClr val="000000"/>
                </a:solidFill>
                <a:latin typeface="Arial"/>
                <a:ea typeface="Arial"/>
                <a:cs typeface="Arial"/>
                <a:sym typeface="Arial"/>
              </a:rPr>
              <a:t>IBM Granite models</a:t>
            </a:r>
            <a:r>
              <a:rPr lang="en-US" sz="1800" b="0" i="0" u="none" strike="noStrike" cap="none">
                <a:solidFill>
                  <a:srgbClr val="000000"/>
                </a:solidFill>
                <a:latin typeface="Arial"/>
                <a:ea typeface="Arial"/>
                <a:cs typeface="Arial"/>
                <a:sym typeface="Arial"/>
              </a:rPr>
              <a:t>, ensuring reliability and governance. </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This makes the solution a </a:t>
            </a:r>
            <a:r>
              <a:rPr lang="en-US" sz="1800" b="1" i="0" u="none" strike="noStrike" cap="none">
                <a:solidFill>
                  <a:srgbClr val="000000"/>
                </a:solidFill>
                <a:latin typeface="Arial"/>
                <a:ea typeface="Arial"/>
                <a:cs typeface="Arial"/>
                <a:sym typeface="Arial"/>
              </a:rPr>
              <a:t>smart, adaptive, and proactive digital nutritionist</a:t>
            </a:r>
            <a:r>
              <a:rPr lang="en-US" sz="1800" b="0" i="0" u="none" strike="noStrike" cap="none">
                <a:solidFill>
                  <a:srgbClr val="000000"/>
                </a:solidFill>
                <a:latin typeface="Arial"/>
                <a:ea typeface="Arial"/>
                <a:cs typeface="Arial"/>
                <a:sym typeface="Arial"/>
              </a:rPr>
              <a:t>, not just a static diet recommendation tool.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1458859"/>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800" dirty="0">
                <a:solidFill>
                  <a:srgbClr val="2B3541"/>
                </a:solidFill>
                <a:latin typeface="Times New Roman"/>
                <a:ea typeface="Times New Roman"/>
                <a:cs typeface="Times New Roman"/>
                <a:sym typeface="Times New Roman"/>
                <a:hlinkClick r:id="rId3"/>
              </a:rPr>
              <a:t>https://github.com/NileshVadgama59/Smart-Home-Energy-Advisor-Agent</a:t>
            </a:r>
            <a:r>
              <a:rPr lang="en-US" sz="2800" dirty="0">
                <a:solidFill>
                  <a:srgbClr val="2B3541"/>
                </a:solidFill>
                <a:latin typeface="Times New Roman"/>
                <a:ea typeface="Times New Roman"/>
                <a:cs typeface="Times New Roman"/>
                <a:sym typeface="Times New Roman"/>
              </a:rPr>
              <a:t> </a:t>
            </a:r>
            <a:endParaRPr sz="28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532563" y="1221714"/>
            <a:ext cx="11183815" cy="4877635"/>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Devices – </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to collect real-time data such as </a:t>
            </a:r>
            <a:r>
              <a:rPr lang="en-US" sz="1850" dirty="0">
                <a:solidFill>
                  <a:srgbClr val="2B3541"/>
                </a:solidFill>
                <a:latin typeface="Times New Roman"/>
                <a:ea typeface="Times New Roman"/>
                <a:cs typeface="Times New Roman"/>
                <a:sym typeface="Times New Roman"/>
              </a:rPr>
              <a:t>energy consumption, current usage of energy, current load, time patterns of energy consumption, peak demand, normal demand, minimum demand, Voltage </a:t>
            </a:r>
            <a:r>
              <a:rPr lang="en-US" sz="1850" b="0" i="0" u="none" strike="noStrike" cap="none" dirty="0">
                <a:solidFill>
                  <a:srgbClr val="2B3541"/>
                </a:solidFill>
                <a:latin typeface="Times New Roman"/>
                <a:ea typeface="Times New Roman"/>
                <a:cs typeface="Times New Roman"/>
                <a:sym typeface="Times New Roman"/>
              </a:rPr>
              <a:t>and current. This will enable the Agent to provide more accurate and dynamic recommendations based on actual user activity and usage of energy.</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2.AI-Powered Voice Assistant &amp; Atomization Support </a:t>
            </a:r>
            <a:r>
              <a:rPr lang="en-US" sz="1850" b="0" i="0" u="none" strike="noStrike" cap="none" dirty="0">
                <a:solidFill>
                  <a:srgbClr val="2B3541"/>
                </a:solidFill>
                <a:latin typeface="Times New Roman"/>
                <a:ea typeface="Times New Roman"/>
                <a:cs typeface="Times New Roman"/>
                <a:sym typeface="Times New Roman"/>
              </a:rPr>
              <a:t>– </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 </a:t>
            </a:r>
            <a:r>
              <a:rPr lang="en-US" sz="1850" dirty="0">
                <a:solidFill>
                  <a:srgbClr val="2B3541"/>
                </a:solidFill>
                <a:latin typeface="Times New Roman"/>
                <a:ea typeface="Times New Roman"/>
                <a:cs typeface="Times New Roman"/>
                <a:sym typeface="Times New Roman"/>
              </a:rPr>
              <a:t>also,</a:t>
            </a:r>
            <a:r>
              <a:rPr lang="en-US" sz="1850" b="0" i="0" u="none" strike="noStrike" cap="none" dirty="0">
                <a:solidFill>
                  <a:srgbClr val="2B3541"/>
                </a:solidFill>
                <a:latin typeface="Times New Roman"/>
                <a:ea typeface="Times New Roman"/>
                <a:cs typeface="Times New Roman"/>
                <a:sym typeface="Times New Roman"/>
              </a:rPr>
              <a:t> automatic control on devices that consume more energy or not used by user.</a:t>
            </a:r>
            <a:endParaRPr sz="1850" b="0" i="0" u="none" strike="noStrike" cap="none" dirty="0">
              <a:solidFill>
                <a:srgbClr val="000000"/>
              </a:solidFill>
              <a:latin typeface="Times New Roman"/>
              <a:ea typeface="Times New Roman"/>
              <a:cs typeface="Times New Roman"/>
              <a:sym typeface="Times New Roman"/>
            </a:endParaRPr>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1192</Words>
  <Application>Microsoft Office PowerPoint</Application>
  <PresentationFormat>Widescreen</PresentationFormat>
  <Paragraphs>114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Vadgama Nilesh</cp:lastModifiedBy>
  <cp:revision>2</cp:revision>
  <dcterms:created xsi:type="dcterms:W3CDTF">2025-07-08T05:06:56Z</dcterms:created>
  <dcterms:modified xsi:type="dcterms:W3CDTF">2026-06-13T16:37:02Z</dcterms:modified>
</cp:coreProperties>
</file>